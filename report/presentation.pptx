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Quelle « intelligence » dans l'IA 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53A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 Gemini 3 sur le benchmark ARC-AGI-3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MIN2026  ·  Travail pratique 4  ·  HEIG-VD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LLM cartonnent aux tests humains.  </a:t>
            </a:r>
            <a:pPr indent="0" marL="0">
              <a:buNone/>
            </a:pPr>
            <a:r>
              <a:rPr lang="en-US" sz="17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obtient un QI verbal de 155, supérieur à 99,9 % des humains.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l'intelligence, selon F. Chollet, ce n'est pas la compétence :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capacité à </a:t>
            </a:r>
            <a:pPr indent="0" marL="0">
              <a:buNone/>
            </a:pPr>
            <a:r>
              <a:rPr lang="en-US" sz="17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acquérir de nouvelles compétences et à généraliser</a:t>
            </a:r>
            <a:pPr indent="0" marL="0">
              <a:buNone/>
            </a:pPr>
            <a:r>
              <a:rPr lang="en-US" sz="17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des problèmes jamais vus.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42062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Everybody is a genius. But if you judge a fish by its ability to climb a tree… 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1371600"/>
            <a:ext cx="320040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0" y="21945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LLM de pointe peut-il découvrir seul les règles d'un jeu inédit 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ARC-AGI-3 : le défi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jeux interactifs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observe une grille, on agit, on observe le résultat, et on doit </a:t>
            </a:r>
            <a:pPr indent="0" marL="0">
              <a:buNone/>
            </a:pPr>
            <a:r>
              <a:rPr lang="en-US" sz="17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déduire les règles par expérimentation</a:t>
            </a:r>
            <a:pPr indent="0" marL="0">
              <a:buNone/>
            </a:pPr>
            <a:r>
              <a:rPr lang="en-US" sz="17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Aucune instruction. Comme un enfant face à un jeu vidéo inconnu.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246120"/>
          <a:ext cx="6400800" cy="237744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Humains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Meilleurs LLM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ARC-AGI-1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~98 %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~90 %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ARC-AGI-2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~100 %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~50-70 %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ARC-AGI-3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4FCC30"/>
                          </a:solidFill>
                        </a:rPr>
                        <a:t>~100 %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93C31"/>
                          </a:solidFill>
                        </a:rPr>
                        <a:t>0 %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3000" y="5715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GPT-5, Claude 4.6, Gemini 3 : tous à 0 %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0" y="1325880"/>
            <a:ext cx="3200400" cy="429768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C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2296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FB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0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0 %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22960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pointe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dispositif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officiel </a:t>
            </a:r>
            <a:pPr indent="0" marL="0">
              <a:buNone/>
            </a:pPr>
            <a:r>
              <a:rPr lang="en-US" sz="1600" i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arcprize/ARC-AGI-3-Agents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notre agent </a:t>
            </a:r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GeminiAgent</a:t>
            </a:r>
            <a:pPr indent="0" marL="0">
              <a:buNone/>
            </a:pPr>
            <a:r>
              <a:rPr lang="en-US" sz="16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(modèle gemini-3.1-pro-preview)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tour : </a:t>
            </a:r>
            <a:pPr indent="0" marL="0">
              <a:buNone/>
            </a:pPr>
            <a:r>
              <a:rPr lang="en-US" sz="16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64×64 (entiers 0-15 = couleurs) est sérialisée en texte, envoyée à Gemini, qui répond par une action en JSON.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3840480"/>
            <a:ext cx="274320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officiel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4480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appels API / tour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agit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~2-3 tours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2743200" cy="2194560"/>
          </a:xfrm>
          <a:prstGeom prst="rect">
            <a:avLst/>
          </a:prstGeom>
          <a:solidFill>
            <a:srgbClr val="E53AA3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agent (allégé)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480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appel API / tour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mémoire (stateless)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moins cher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325880"/>
            <a:ext cx="3566160" cy="457200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« voit » Gemini</a:t>
            </a:r>
            <a:endParaRPr lang="en-US" sz="1300" dirty="0"/>
          </a:p>
        </p:txBody>
      </p:sp>
      <p:pic>
        <p:nvPicPr>
          <p:cNvPr id="15" name="Image 0" descr="/home/aladin/ba6/min/min-pw4-challenging-ai/report/figures/gifs/ka59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965960"/>
            <a:ext cx="2743200" cy="31363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3816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grille d'entiers, animée tour par tour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Gemini échoue</a:t>
            </a:r>
            <a:endParaRPr lang="en-US" sz="3400" dirty="0"/>
          </a:p>
        </p:txBody>
      </p:sp>
      <p:pic>
        <p:nvPicPr>
          <p:cNvPr id="4" name="Image 0" descr="/home/aladin/ba6/min/min-pw4-challenging-ai/report/figures/gifs/ka59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4206240" cy="480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263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ka59 : le joueur poussé en boucle contre la barrière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7840" y="1554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A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pathologies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577840" y="2240280"/>
            <a:ext cx="594360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Répétition stérile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06440" y="2788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ka59 : &gt; 30 fois la même action « droite » sur 42 tours. Le modèle pousse au mur sans jamais changer d'approche.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3977640"/>
            <a:ext cx="594360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compulsif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06440" y="4526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lp85 et r11l : 100 % de clics, jamais un déplacement. Aucune conclusion tirée de l'absence de progrès.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5715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53A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Le modèle ne s'adapte pas au feedback de l'environnement.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résultats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3931920" cy="420624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288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114300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franchi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7 jeux testés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63040"/>
          <a:ext cx="5943600" cy="36576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Jeu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Niveaux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ka59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lp85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lf52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r11l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cd82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wa30 (Flash)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 / 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ls20 (CoT)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3C3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0" y="5257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wa30 : Gemini Flash n'a pas franchi le niveau 1 (80 actions) ; un humain le résout en ~71.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si on lui donne de la mémoire ?</a:t>
            </a:r>
            <a:endParaRPr lang="en-US" sz="3200" dirty="0"/>
          </a:p>
        </p:txBody>
      </p:sp>
      <p:pic>
        <p:nvPicPr>
          <p:cNvPr id="4" name="Image 0" descr="/home/aladin/ba6/min/min-pw4-challenging-ai/report/figures/gifs/ls2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6576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623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ls20 : agent amélioré, même errance dans le labyrinthe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0" y="14630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A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agent amélioré (CoT)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12080" y="21031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des 6 derniers tours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12080" y="2606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raisonnement explicite (chain-of-thought)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2080" y="31089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de chaque action passée (« a changé / SANS EFFET »)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0" y="3840480"/>
            <a:ext cx="635508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aucun changement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57800" y="44805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niveau franchi. Le modèle a joué 31 fois « droite » d'affilée.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17 actions sans aucun effet, il voyait le signal « SANS EFFET » et l'a ignoré.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Même jeu ls20 : humain vs IA</a:t>
            </a:r>
            <a:endParaRPr lang="en-US" sz="3000" dirty="0"/>
          </a:p>
        </p:txBody>
      </p:sp>
      <p:pic>
        <p:nvPicPr>
          <p:cNvPr id="5" name="Image 0" descr="/home/aladin/ba6/min/min-pw4-challenging-ai/report/figures/gifs/ls20-aladi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08760"/>
            <a:ext cx="329184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257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(l'auteur)</a:t>
            </a:r>
            <a:endParaRPr lang="en-US" sz="1500" dirty="0"/>
          </a:p>
        </p:txBody>
      </p:sp>
      <p:pic>
        <p:nvPicPr>
          <p:cNvPr id="7" name="Image 1" descr="/home/aladin/ba6/min/min-pw4-challenging-ai/report/figures/gifs/ls20-4.8_opu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508760"/>
            <a:ext cx="3291840" cy="3703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5257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4.8 Opus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0" y="2148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FCC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5000" dirty="0"/>
          </a:p>
        </p:txBody>
      </p:sp>
      <p:sp>
        <p:nvSpPr>
          <p:cNvPr id="10" name="Text 6"/>
          <p:cNvSpPr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B6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0" y="3703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2 %</a:t>
            </a:r>
            <a:endParaRPr lang="en-US" sz="5000" dirty="0"/>
          </a:p>
        </p:txBody>
      </p:sp>
      <p:sp>
        <p:nvSpPr>
          <p:cNvPr id="12" name="Text 8"/>
          <p:cNvSpPr/>
          <p:nvPr/>
        </p:nvSpPr>
        <p:spPr>
          <a:xfrm>
            <a:off x="114300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meilleur modèle public actuel passe à peine le 0 %. L'humain résout sans peine.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Confirmé par le leaderboard officiel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n'avons pas seulement cité un chiffre, nous l'avons </a:t>
            </a:r>
            <a:pPr indent="0" marL="0">
              <a:buNone/>
            </a:pPr>
            <a:r>
              <a:rPr lang="en-US" sz="18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reproduit nous-mêmes.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sortie du benchmark, les meilleurs modèles affichaient tous 0 % 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743200"/>
            <a:ext cx="3291840" cy="210312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71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430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291840" cy="210312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71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75488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66760" y="2743200"/>
            <a:ext cx="3291840" cy="2103120"/>
          </a:xfrm>
          <a:prstGeom prst="rect">
            <a:avLst/>
          </a:prstGeom>
          <a:solidFill>
            <a:srgbClr val="0E123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971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3C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36676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5120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Depuis, Claude 4.8 Opus est le premier à franchir ce plancher : </a:t>
            </a:r>
            <a:pPr indent="0" marL="0">
              <a:buNone/>
            </a:pPr>
            <a:r>
              <a:rPr lang="en-US" sz="16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2 %.</a:t>
            </a:r>
            <a:pPr indent="0" marL="0">
              <a:buNone/>
            </a:pPr>
            <a:r>
              <a:rPr lang="en-US" sz="1600" dirty="0">
                <a:solidFill>
                  <a:srgbClr val="5B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 progrès réel, mais l'écart avec les ~100 % humains reste béant.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même résultat que le nôtre : la généralisation aux règles d'un jeu inédit reste hors de portée.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53AA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a toute l'information à l'écran, mais ne déduit pas les règles.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Inférer une règle et s'adapter quand on échoue : c'est exactement la généralisation que Chollet place au cœur de l'intelligence. Les LLM en restent de puissants détecteurs de motifs, hors-jeu dès qu'on sort de leur distribution.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84048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600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095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API sous-estimé : </a:t>
            </a:r>
            <a:pPr indent="0" marL="0">
              <a:buNone/>
            </a:pPr>
            <a:r>
              <a:rPr lang="en-US" sz="15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CHF pour le run simple.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l'agent allégé et l'arrêt volontaire, les benchmarks officiels confirmant déjà le 0 %.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53A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Refaire l'expérience nous a fait comprendre non pas que l'IA échoue, mais pourquoi.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ARC-AGI-3 : quelle intelligence dans l'IA ?</dc:title>
  <dc:subject>PptxGenJS Presentation</dc:subject>
  <dc:creator>Aladin</dc:creator>
  <cp:lastModifiedBy>Aladin</cp:lastModifiedBy>
  <cp:revision>1</cp:revision>
  <dcterms:created xsi:type="dcterms:W3CDTF">2026-06-07T09:07:42Z</dcterms:created>
  <dcterms:modified xsi:type="dcterms:W3CDTF">2026-06-07T09:07:42Z</dcterms:modified>
</cp:coreProperties>
</file>